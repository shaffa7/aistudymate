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27"/>
  </p:notesMasterIdLst>
  <p:handoutMasterIdLst>
    <p:handoutMasterId r:id="rId28"/>
  </p:handoutMasterIdLst>
  <p:sldIdLst>
    <p:sldId id="312" r:id="rId5"/>
    <p:sldId id="304" r:id="rId6"/>
    <p:sldId id="307" r:id="rId7"/>
    <p:sldId id="281" r:id="rId8"/>
    <p:sldId id="282" r:id="rId9"/>
    <p:sldId id="314" r:id="rId10"/>
    <p:sldId id="315" r:id="rId11"/>
    <p:sldId id="317" r:id="rId12"/>
    <p:sldId id="318" r:id="rId13"/>
    <p:sldId id="319" r:id="rId14"/>
    <p:sldId id="321" r:id="rId15"/>
    <p:sldId id="322" r:id="rId16"/>
    <p:sldId id="323" r:id="rId17"/>
    <p:sldId id="324" r:id="rId18"/>
    <p:sldId id="325" r:id="rId19"/>
    <p:sldId id="326" r:id="rId20"/>
    <p:sldId id="327" r:id="rId21"/>
    <p:sldId id="328" r:id="rId22"/>
    <p:sldId id="329" r:id="rId23"/>
    <p:sldId id="330" r:id="rId24"/>
    <p:sldId id="331" r:id="rId25"/>
    <p:sldId id="297" r:id="rId26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 varScale="1">
        <p:scale>
          <a:sx n="78" d="100"/>
          <a:sy n="78" d="100"/>
        </p:scale>
        <p:origin x="878" y="7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B8945-A9CD-DB3F-B211-BCD1D8408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6306A1-057A-6BC2-3DA2-5B73D62FBE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B5C3B0-BCC8-AC7F-F42A-54AD1D254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08337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37CB5-BD08-57F2-2E43-6D80D847F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017F29-F77D-D595-504B-19B5795320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09D2CB-F1DC-BD97-CA79-C3BC75E4D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4620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0D18E-A742-7E46-32DA-C32546BB2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EB601A-3E4D-27F1-1AB5-947E05947C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4445DE-1BEA-0C69-4C83-E1F13AA7FE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919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DAFE2-908E-37CF-F828-16D3DE529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7FCCE6-5D67-F265-2BD8-198098B87B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03E6BE-44CD-81BB-AF2D-8256015B37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33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E2CA4-EC5D-9292-1D7A-8F5FDDE11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2908D1-1C16-B6E0-A246-17EEF08992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BA50E7-6DE8-7CFF-B03C-76638B83AC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13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BAB32-FCB9-88D9-4B18-B03269608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64486B-339E-8F83-88D7-0F1ACCFC9E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819D3A-292E-F298-5C80-BFD740BC9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88070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B651E-81D0-E8D8-E7BF-84735C521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6EB061-7656-782F-FBC1-A4FF8644E7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FB1C63-7B48-F032-C166-7A47C2474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58769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28426-00A7-B043-D365-94ADE3B9C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78767-EC65-B5A6-207F-63AD0B7B24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7D20AC-1A42-61C8-700E-B44D188DB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1107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C7B81-776B-9C92-E243-F3DED95DF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7BC4AE-1937-5F19-6C50-3376831709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FF81D2-58ED-0B15-4B8B-09DFEE2A9B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1824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i-study-mate-tau.vercel.app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89" y="328446"/>
            <a:ext cx="6392421" cy="3831221"/>
          </a:xfrm>
        </p:spPr>
        <p:txBody>
          <a:bodyPr anchor="ctr"/>
          <a:lstStyle/>
          <a:p>
            <a:r>
              <a:rPr lang="en-IN" b="0" dirty="0"/>
              <a:t>AI StudyMate</a:t>
            </a:r>
            <a:br>
              <a:rPr lang="en-IN" dirty="0"/>
            </a:br>
            <a:br>
              <a:rPr lang="en-IN" dirty="0"/>
            </a:br>
            <a:br>
              <a:rPr lang="en-IN" dirty="0"/>
            </a:br>
            <a:r>
              <a:rPr lang="en-IN" dirty="0"/>
              <a:t>AI-Based Personalized Study Assistant</a:t>
            </a:r>
          </a:p>
        </p:txBody>
      </p:sp>
      <p:pic>
        <p:nvPicPr>
          <p:cNvPr id="4" name="Picture 3" descr="ScholarsBox">
            <a:extLst>
              <a:ext uri="{FF2B5EF4-FFF2-40B4-BE49-F238E27FC236}">
                <a16:creationId xmlns:a16="http://schemas.microsoft.com/office/drawing/2014/main" id="{7497DF7C-6855-561B-CED2-4DB07D75C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19240"/>
            <a:ext cx="2889249" cy="26003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D39F4E-4521-53DF-19E2-9EAF79D686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2689" y="100627"/>
            <a:ext cx="1954274" cy="131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974" y="0"/>
            <a:ext cx="6583680" cy="1531357"/>
          </a:xfrm>
        </p:spPr>
        <p:txBody>
          <a:bodyPr/>
          <a:lstStyle/>
          <a:p>
            <a:r>
              <a:rPr lang="en-IN" dirty="0"/>
              <a:t>AI StudyMate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258" y="1927123"/>
            <a:ext cx="6661396" cy="4355690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An Artificial Intelligence Based Personalized Study Assistant</a:t>
            </a:r>
          </a:p>
          <a:p>
            <a:endParaRPr lang="en-IN" b="1" dirty="0"/>
          </a:p>
          <a:p>
            <a:r>
              <a:rPr lang="en-IN" b="1" dirty="0"/>
              <a:t>Link : </a:t>
            </a:r>
            <a:r>
              <a:rPr lang="en-IN" dirty="0">
                <a:hlinkClick r:id="rId3"/>
              </a:rPr>
              <a:t>AI </a:t>
            </a:r>
            <a:r>
              <a:rPr lang="en-IN" dirty="0" err="1">
                <a:hlinkClick r:id="rId3"/>
              </a:rPr>
              <a:t>StudyMate</a:t>
            </a:r>
            <a:endParaRPr lang="en-IN" dirty="0"/>
          </a:p>
          <a:p>
            <a:endParaRPr lang="en-IN" b="1" dirty="0"/>
          </a:p>
          <a:p>
            <a:r>
              <a:rPr lang="en-IN" b="1" dirty="0"/>
              <a:t>Presented By:</a:t>
            </a:r>
            <a:br>
              <a:rPr lang="en-IN" dirty="0"/>
            </a:br>
            <a:r>
              <a:rPr lang="en-IN" dirty="0">
                <a:highlight>
                  <a:srgbClr val="FFFF00"/>
                </a:highlight>
              </a:rPr>
              <a:t>Shaffa Alure</a:t>
            </a:r>
            <a:br>
              <a:rPr lang="en-IN" dirty="0"/>
            </a:br>
            <a:r>
              <a:rPr lang="en-IN" dirty="0"/>
              <a:t>TY B.Sc Computer Science</a:t>
            </a:r>
          </a:p>
          <a:p>
            <a:r>
              <a:rPr lang="en-IN" dirty="0"/>
              <a:t>St. Mira's College for Girls, Pune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132" y="678166"/>
            <a:ext cx="5614487" cy="1022816"/>
          </a:xfrm>
        </p:spPr>
        <p:txBody>
          <a:bodyPr/>
          <a:lstStyle/>
          <a:p>
            <a:r>
              <a:rPr lang="en-IN" dirty="0"/>
              <a:t>* Introduction</a:t>
            </a:r>
            <a:br>
              <a:rPr lang="en-IN" dirty="0"/>
            </a:b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C2F9E9-AD6E-CC48-1442-74E7F0CB371D}"/>
              </a:ext>
            </a:extLst>
          </p:cNvPr>
          <p:cNvSpPr txBox="1"/>
          <p:nvPr/>
        </p:nvSpPr>
        <p:spPr>
          <a:xfrm>
            <a:off x="1002890" y="1897624"/>
            <a:ext cx="940947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Education requires students to manage large amounts of study material. </a:t>
            </a:r>
          </a:p>
          <a:p>
            <a:pPr lvl="0"/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Reading lengthy documents and preparing notes manually consumes time. </a:t>
            </a:r>
          </a:p>
          <a:p>
            <a:pPr lvl="0"/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AI can assist students by automatically analyzing content and generating learning resources. </a:t>
            </a:r>
          </a:p>
          <a:p>
            <a:pPr lvl="0"/>
            <a:endParaRPr lang="en-IN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AI StudyMate provides:</a:t>
            </a:r>
          </a:p>
          <a:p>
            <a:endParaRPr lang="en-IN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✅ AI Chat Assistance</a:t>
            </a:r>
            <a:br>
              <a:rPr lang="en-IN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✅ PDF Summarization</a:t>
            </a:r>
            <a:br>
              <a:rPr lang="en-IN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✅ MCQ Generation</a:t>
            </a:r>
            <a:br>
              <a:rPr lang="en-IN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✅ Quiz Creation</a:t>
            </a:r>
            <a:br>
              <a:rPr lang="en-IN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✅ Flashcard Generation</a:t>
            </a:r>
            <a:br>
              <a:rPr lang="en-IN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✅ Downloadable Notes</a:t>
            </a:r>
          </a:p>
          <a:p>
            <a:endParaRPr lang="en-IN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65370"/>
            <a:ext cx="7216877" cy="740277"/>
          </a:xfrm>
        </p:spPr>
        <p:txBody>
          <a:bodyPr/>
          <a:lstStyle/>
          <a:p>
            <a:r>
              <a:rPr lang="en-IN" dirty="0"/>
              <a:t>* Problem Statement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2192594"/>
            <a:ext cx="10412362" cy="4483508"/>
          </a:xfrm>
        </p:spPr>
        <p:txBody>
          <a:bodyPr>
            <a:normAutofit/>
          </a:bodyPr>
          <a:lstStyle/>
          <a:p>
            <a:r>
              <a:rPr lang="en-IN" b="1" dirty="0"/>
              <a:t>Problem Statement:</a:t>
            </a:r>
          </a:p>
          <a:p>
            <a:r>
              <a:rPr lang="en-IN" dirty="0"/>
              <a:t>Students face difficulties in:</a:t>
            </a:r>
          </a:p>
          <a:p>
            <a:pPr lvl="0"/>
            <a:r>
              <a:rPr lang="en-IN" dirty="0"/>
              <a:t>Understanding large study documents. </a:t>
            </a:r>
          </a:p>
          <a:p>
            <a:pPr lvl="0"/>
            <a:r>
              <a:rPr lang="en-IN" dirty="0"/>
              <a:t>Creating revision notes manually. </a:t>
            </a:r>
          </a:p>
          <a:p>
            <a:pPr lvl="0"/>
            <a:r>
              <a:rPr lang="en-IN" dirty="0"/>
              <a:t>Preparing practice questions. </a:t>
            </a:r>
          </a:p>
          <a:p>
            <a:pPr lvl="0"/>
            <a:r>
              <a:rPr lang="en-IN" dirty="0"/>
              <a:t>Revising before examinations. </a:t>
            </a:r>
          </a:p>
          <a:p>
            <a:pPr lvl="0"/>
            <a:endParaRPr lang="en-IN" dirty="0"/>
          </a:p>
          <a:p>
            <a:r>
              <a:rPr lang="en-IN" b="1" dirty="0"/>
              <a:t>Need:</a:t>
            </a:r>
          </a:p>
          <a:p>
            <a:r>
              <a:rPr lang="en-IN" dirty="0"/>
              <a:t>An intelligent system that can automatically convert study materials into useful learning resources.</a:t>
            </a:r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IN" dirty="0"/>
              <a:t>* Objectives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965460" cy="3497698"/>
          </a:xfrm>
        </p:spPr>
        <p:txBody>
          <a:bodyPr/>
          <a:lstStyle/>
          <a:p>
            <a:r>
              <a:rPr lang="en-IN" dirty="0"/>
              <a:t>The main objectives are:</a:t>
            </a:r>
          </a:p>
          <a:p>
            <a:pPr lvl="0"/>
            <a:r>
              <a:rPr lang="en-IN" dirty="0"/>
              <a:t>Develop an AI-powered study assistant. </a:t>
            </a:r>
          </a:p>
          <a:p>
            <a:pPr lvl="0"/>
            <a:r>
              <a:rPr lang="en-IN" dirty="0"/>
              <a:t>Provide interactive AI learning support. </a:t>
            </a:r>
          </a:p>
          <a:p>
            <a:pPr lvl="0"/>
            <a:r>
              <a:rPr lang="en-IN" dirty="0"/>
              <a:t>Automatically summarize study content. </a:t>
            </a:r>
          </a:p>
          <a:p>
            <a:pPr lvl="0"/>
            <a:r>
              <a:rPr lang="en-IN" dirty="0"/>
              <a:t>Generate MCQs and quizzes. </a:t>
            </a:r>
          </a:p>
          <a:p>
            <a:pPr lvl="0"/>
            <a:r>
              <a:rPr lang="en-IN" dirty="0"/>
              <a:t>Create flashcards for revision. </a:t>
            </a:r>
          </a:p>
          <a:p>
            <a:pPr lvl="0"/>
            <a:r>
              <a:rPr lang="en-IN" dirty="0"/>
              <a:t>Improve student learning efficiency.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1352" y="457199"/>
            <a:ext cx="6073666" cy="1453723"/>
          </a:xfrm>
        </p:spPr>
        <p:txBody>
          <a:bodyPr/>
          <a:lstStyle/>
          <a:p>
            <a:r>
              <a:rPr lang="en-IN" dirty="0"/>
              <a:t>*Existing System vs Proposed System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A492627-1488-82FE-5A16-867B0378B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9025776"/>
              </p:ext>
            </p:extLst>
          </p:nvPr>
        </p:nvGraphicFramePr>
        <p:xfrm>
          <a:off x="3667432" y="2989006"/>
          <a:ext cx="7339780" cy="2772696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3669890">
                  <a:extLst>
                    <a:ext uri="{9D8B030D-6E8A-4147-A177-3AD203B41FA5}">
                      <a16:colId xmlns:a16="http://schemas.microsoft.com/office/drawing/2014/main" val="608108290"/>
                    </a:ext>
                  </a:extLst>
                </a:gridCol>
                <a:gridCol w="3669890">
                  <a:extLst>
                    <a:ext uri="{9D8B030D-6E8A-4147-A177-3AD203B41FA5}">
                      <a16:colId xmlns:a16="http://schemas.microsoft.com/office/drawing/2014/main" val="4182725163"/>
                    </a:ext>
                  </a:extLst>
                </a:gridCol>
              </a:tblGrid>
              <a:tr h="4621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Existing System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AI StudyMate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57597348"/>
                  </a:ext>
                </a:extLst>
              </a:tr>
              <a:tr h="4621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Manual note preparation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Automatic notes generation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29125109"/>
                  </a:ext>
                </a:extLst>
              </a:tr>
              <a:tr h="4621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Time consuming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Faster learning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02743929"/>
                  </a:ext>
                </a:extLst>
              </a:tr>
              <a:tr h="4621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Fixed learning content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AI-generated personalized content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94444146"/>
                  </a:ext>
                </a:extLst>
              </a:tr>
              <a:tr h="4621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No interactive support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AI chatbot assistance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33614282"/>
                  </a:ext>
                </a:extLst>
              </a:tr>
              <a:tr h="4621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Manual quiz creation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Automatic quiz generation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469712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1222385"/>
          </a:xfrm>
        </p:spPr>
        <p:txBody>
          <a:bodyPr/>
          <a:lstStyle/>
          <a:p>
            <a:r>
              <a:rPr lang="en-IN" dirty="0"/>
              <a:t>* Proposed System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303028"/>
            <a:ext cx="7443019" cy="3720337"/>
          </a:xfrm>
        </p:spPr>
        <p:txBody>
          <a:bodyPr>
            <a:normAutofit/>
          </a:bodyPr>
          <a:lstStyle/>
          <a:p>
            <a:r>
              <a:rPr lang="en-IN" b="1" dirty="0"/>
              <a:t>AI StudyMate Solution</a:t>
            </a:r>
          </a:p>
          <a:p>
            <a:endParaRPr lang="en-IN" b="1" dirty="0"/>
          </a:p>
          <a:p>
            <a:r>
              <a:rPr lang="en-IN" dirty="0"/>
              <a:t>AI StudyMate allows students to: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Upload study PDFs.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Extract educational content.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Process content using AI.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Generate learning materials.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Interact with AI chatbot. </a:t>
            </a: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070B2EE-3D46-5075-A8C9-C36C655294EC}"/>
              </a:ext>
            </a:extLst>
          </p:cNvPr>
          <p:cNvSpPr/>
          <p:nvPr/>
        </p:nvSpPr>
        <p:spPr>
          <a:xfrm>
            <a:off x="4636299" y="2275266"/>
            <a:ext cx="3883350" cy="41715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FF97A23-C49C-A872-4181-4A83F649C491}"/>
              </a:ext>
            </a:extLst>
          </p:cNvPr>
          <p:cNvSpPr/>
          <p:nvPr/>
        </p:nvSpPr>
        <p:spPr>
          <a:xfrm>
            <a:off x="570543" y="2143432"/>
            <a:ext cx="3490451" cy="44607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865" y="609600"/>
            <a:ext cx="2566219" cy="1447420"/>
          </a:xfrm>
        </p:spPr>
        <p:txBody>
          <a:bodyPr/>
          <a:lstStyle/>
          <a:p>
            <a:r>
              <a:rPr lang="en-IN" sz="2800" dirty="0"/>
              <a:t>System Architecture</a:t>
            </a:r>
            <a:endParaRPr lang="en-US" sz="2800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58AC0C8B-8A7A-9FAE-2D0F-4D1C3A8C3F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96414" y="2303463"/>
            <a:ext cx="3490451" cy="4143375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 User</a:t>
            </a:r>
          </a:p>
          <a:p>
            <a:r>
              <a:rPr lang="en-US" dirty="0"/>
              <a:t>               |</a:t>
            </a:r>
          </a:p>
          <a:p>
            <a:r>
              <a:rPr lang="en-US" dirty="0"/>
              <a:t>               ↓</a:t>
            </a:r>
          </a:p>
          <a:p>
            <a:r>
              <a:rPr lang="en-US" dirty="0"/>
              <a:t>        Frontend Interface</a:t>
            </a:r>
          </a:p>
          <a:p>
            <a:r>
              <a:rPr lang="en-US" dirty="0"/>
              <a:t>               |</a:t>
            </a:r>
          </a:p>
          <a:p>
            <a:r>
              <a:rPr lang="en-US" dirty="0"/>
              <a:t>               ↓</a:t>
            </a:r>
          </a:p>
          <a:p>
            <a:r>
              <a:rPr lang="en-US" dirty="0"/>
              <a:t>        FastAPI Backend</a:t>
            </a:r>
          </a:p>
          <a:p>
            <a:r>
              <a:rPr lang="en-US" dirty="0"/>
              <a:t>               |</a:t>
            </a:r>
          </a:p>
          <a:p>
            <a:r>
              <a:rPr lang="en-US" dirty="0"/>
              <a:t>     ---------------------</a:t>
            </a:r>
          </a:p>
          <a:p>
            <a:r>
              <a:rPr lang="en-US" dirty="0"/>
              <a:t>     |                   |</a:t>
            </a:r>
          </a:p>
          <a:p>
            <a:r>
              <a:rPr lang="en-US" dirty="0"/>
              <a:t> PDF Processing     Gemini AI API</a:t>
            </a:r>
          </a:p>
          <a:p>
            <a:r>
              <a:rPr lang="en-US" dirty="0"/>
              <a:t>     |                   |</a:t>
            </a:r>
          </a:p>
          <a:p>
            <a:r>
              <a:rPr lang="en-US" dirty="0"/>
              <a:t>     ---------------------</a:t>
            </a:r>
          </a:p>
          <a:p>
            <a:r>
              <a:rPr lang="en-US" dirty="0"/>
              <a:t>               |</a:t>
            </a:r>
          </a:p>
          <a:p>
            <a:r>
              <a:rPr lang="en-US" dirty="0"/>
              <a:t>               ↓</a:t>
            </a:r>
          </a:p>
          <a:p>
            <a:r>
              <a:rPr lang="en-US" dirty="0"/>
              <a:t>        Generated Output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5108C6-A5EB-2725-D225-1F4F9EC2720E}"/>
              </a:ext>
            </a:extLst>
          </p:cNvPr>
          <p:cNvSpPr txBox="1"/>
          <p:nvPr/>
        </p:nvSpPr>
        <p:spPr>
          <a:xfrm>
            <a:off x="4636299" y="644050"/>
            <a:ext cx="320254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chemeClr val="accent6"/>
                </a:solidFill>
                <a:latin typeface="+mj-lt"/>
              </a:rPr>
              <a:t>PDF Processing </a:t>
            </a:r>
            <a:r>
              <a:rPr lang="en-IN" sz="2800" b="1" dirty="0">
                <a:solidFill>
                  <a:schemeClr val="accent6"/>
                </a:solidFill>
                <a:latin typeface="+mj-lt"/>
              </a:rPr>
              <a:t>Workflow</a:t>
            </a:r>
            <a:endParaRPr lang="en-IN" sz="2400" b="1" dirty="0">
              <a:solidFill>
                <a:schemeClr val="accent6"/>
              </a:solidFill>
              <a:latin typeface="+mj-lt"/>
            </a:endParaRPr>
          </a:p>
          <a:p>
            <a:pPr>
              <a:buNone/>
            </a:pPr>
            <a:r>
              <a:rPr lang="en-IN" sz="2400" b="1" dirty="0">
                <a:solidFill>
                  <a:schemeClr val="accent6"/>
                </a:solidFill>
                <a:latin typeface="+mj-lt"/>
              </a:rPr>
              <a:t>Document Analysis Process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E4E849-0B30-B046-8877-51B9E58F0BAF}"/>
              </a:ext>
            </a:extLst>
          </p:cNvPr>
          <p:cNvSpPr txBox="1"/>
          <p:nvPr/>
        </p:nvSpPr>
        <p:spPr>
          <a:xfrm>
            <a:off x="4914059" y="2520631"/>
            <a:ext cx="367726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PDF Upload</a:t>
            </a:r>
          </a:p>
          <a:p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    |</a:t>
            </a:r>
          </a:p>
          <a:p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    ↓</a:t>
            </a:r>
          </a:p>
          <a:p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Text Extraction</a:t>
            </a:r>
          </a:p>
          <a:p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    |</a:t>
            </a:r>
          </a:p>
          <a:p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    ↓</a:t>
            </a:r>
          </a:p>
          <a:p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Content Processing</a:t>
            </a:r>
          </a:p>
          <a:p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    |</a:t>
            </a:r>
          </a:p>
          <a:p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    ↓</a:t>
            </a:r>
          </a:p>
          <a:p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Gemini AI Analysis</a:t>
            </a:r>
          </a:p>
          <a:p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    |</a:t>
            </a:r>
          </a:p>
          <a:p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    ↓</a:t>
            </a:r>
          </a:p>
          <a:p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Generated Summary / Quiz</a:t>
            </a:r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1247"/>
            <a:ext cx="7843837" cy="614882"/>
          </a:xfrm>
        </p:spPr>
        <p:txBody>
          <a:bodyPr/>
          <a:lstStyle/>
          <a:p>
            <a:r>
              <a:rPr lang="en-IN" dirty="0"/>
              <a:t>* Technologies Used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967837" y="1465007"/>
            <a:ext cx="8622890" cy="4588602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Frontend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HTML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CSS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JavaScript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Bootstrap </a:t>
            </a:r>
          </a:p>
          <a:p>
            <a:endParaRPr lang="en-IN" b="1" dirty="0"/>
          </a:p>
          <a:p>
            <a:r>
              <a:rPr lang="en-IN" b="1" dirty="0"/>
              <a:t>Backend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Python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FastAPI </a:t>
            </a:r>
          </a:p>
          <a:p>
            <a:pPr lvl="0"/>
            <a:endParaRPr lang="en-IN" dirty="0"/>
          </a:p>
          <a:p>
            <a:r>
              <a:rPr lang="en-IN" b="1" dirty="0"/>
              <a:t>Artificial Intelligence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Google Gemini API </a:t>
            </a:r>
          </a:p>
          <a:p>
            <a:pPr lvl="0"/>
            <a:endParaRPr lang="en-IN" dirty="0"/>
          </a:p>
          <a:p>
            <a:r>
              <a:rPr lang="en-IN" b="1" dirty="0"/>
              <a:t>Tools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Docker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GitHub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Render Deployment</a:t>
            </a:r>
          </a:p>
        </p:txBody>
      </p:sp>
      <p:pic>
        <p:nvPicPr>
          <p:cNvPr id="7" name="Picture Placeholder 6" descr="A person wearing glasses and a blue shirt">
            <a:extLst>
              <a:ext uri="{FF2B5EF4-FFF2-40B4-BE49-F238E27FC236}">
                <a16:creationId xmlns:a16="http://schemas.microsoft.com/office/drawing/2014/main" id="{C570EB79-053B-0283-9D2D-6266701EEDD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l="19088" r="19088"/>
          <a:stretch/>
        </p:blipFill>
        <p:spPr>
          <a:xfrm>
            <a:off x="8989454" y="3405189"/>
            <a:ext cx="3202546" cy="3452811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52A7802-D658-29CA-313D-5869C4CD4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849" y="486696"/>
            <a:ext cx="9599218" cy="609601"/>
          </a:xfrm>
        </p:spPr>
        <p:txBody>
          <a:bodyPr/>
          <a:lstStyle/>
          <a:p>
            <a:r>
              <a:rPr lang="en-IN" dirty="0"/>
              <a:t>* System Modules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802D6EA-9684-9B05-64D7-C8A419E66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86348" y="1671484"/>
            <a:ext cx="10186220" cy="4699820"/>
          </a:xfrm>
        </p:spPr>
        <p:txBody>
          <a:bodyPr/>
          <a:lstStyle/>
          <a:p>
            <a:r>
              <a:rPr lang="en-IN" b="1" dirty="0"/>
              <a:t>1. AI Chat Module</a:t>
            </a:r>
          </a:p>
          <a:p>
            <a:pPr lvl="0"/>
            <a:r>
              <a:rPr lang="en-IN" dirty="0"/>
              <a:t>Answers student queries. </a:t>
            </a:r>
          </a:p>
          <a:p>
            <a:pPr lvl="0"/>
            <a:r>
              <a:rPr lang="en-IN" dirty="0"/>
              <a:t>Provides explanations. </a:t>
            </a:r>
          </a:p>
          <a:p>
            <a:r>
              <a:rPr lang="en-IN" b="1" dirty="0"/>
              <a:t>2. PDF Processing Module</a:t>
            </a:r>
          </a:p>
          <a:p>
            <a:pPr lvl="0"/>
            <a:r>
              <a:rPr lang="en-IN" dirty="0"/>
              <a:t>Upload documents. </a:t>
            </a:r>
          </a:p>
          <a:p>
            <a:pPr lvl="0"/>
            <a:r>
              <a:rPr lang="en-IN" dirty="0"/>
              <a:t>Extract text content. </a:t>
            </a:r>
          </a:p>
          <a:p>
            <a:r>
              <a:rPr lang="en-IN" b="1" dirty="0"/>
              <a:t>3. Summary Generator  : </a:t>
            </a:r>
            <a:r>
              <a:rPr lang="en-IN" dirty="0"/>
              <a:t>Creates concise notes. </a:t>
            </a:r>
          </a:p>
          <a:p>
            <a:r>
              <a:rPr lang="en-IN" b="1" dirty="0"/>
              <a:t>4. Quiz Generator  : </a:t>
            </a:r>
            <a:r>
              <a:rPr lang="en-IN" dirty="0"/>
              <a:t>Generates practice questions. </a:t>
            </a:r>
          </a:p>
          <a:p>
            <a:r>
              <a:rPr lang="en-IN" b="1" dirty="0"/>
              <a:t>5. Flashcard Generator  :  </a:t>
            </a:r>
            <a:r>
              <a:rPr lang="en-IN" dirty="0"/>
              <a:t>Creates revision cards. </a:t>
            </a:r>
          </a:p>
          <a:p>
            <a:r>
              <a:rPr lang="en-IN" b="1" dirty="0"/>
              <a:t>6. PDF Download Module   : </a:t>
            </a:r>
            <a:r>
              <a:rPr lang="en-IN" dirty="0"/>
              <a:t>Saves generated content.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1057274"/>
            <a:ext cx="9875463" cy="999746"/>
          </a:xfrm>
        </p:spPr>
        <p:txBody>
          <a:bodyPr/>
          <a:lstStyle/>
          <a:p>
            <a:r>
              <a:rPr lang="en-IN" dirty="0"/>
              <a:t>* AI Chat Module</a:t>
            </a:r>
            <a:endParaRPr lang="en-US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88BD9B8-D6A6-D55A-830D-4D3CC2DC3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0564" y="2303028"/>
            <a:ext cx="5829147" cy="396159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AI Assistant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dirty="0"/>
              <a:t>Features:</a:t>
            </a:r>
          </a:p>
          <a:p>
            <a:pPr lvl="0"/>
            <a:r>
              <a:rPr lang="en-IN" dirty="0"/>
              <a:t>User enters question. </a:t>
            </a:r>
          </a:p>
          <a:p>
            <a:pPr lvl="0"/>
            <a:r>
              <a:rPr lang="en-IN" dirty="0"/>
              <a:t>Backend sends request to Gemini AI. </a:t>
            </a:r>
          </a:p>
          <a:p>
            <a:pPr lvl="0"/>
            <a:r>
              <a:rPr lang="en-IN" dirty="0"/>
              <a:t>AI generates response. </a:t>
            </a:r>
          </a:p>
          <a:p>
            <a:pPr marL="0" lv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Benefits:</a:t>
            </a:r>
          </a:p>
          <a:p>
            <a:pPr lvl="0"/>
            <a:r>
              <a:rPr lang="en-IN" dirty="0"/>
              <a:t>Instant doubt solving. </a:t>
            </a:r>
          </a:p>
          <a:p>
            <a:pPr lvl="0"/>
            <a:r>
              <a:rPr lang="en-IN" dirty="0"/>
              <a:t>Interactive learning. </a:t>
            </a:r>
          </a:p>
          <a:p>
            <a:pPr lvl="0"/>
            <a:r>
              <a:rPr lang="en-IN" dirty="0"/>
              <a:t>24/7 availability.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A324-0737-F0DA-1F7D-10CBE06D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594" y="747252"/>
            <a:ext cx="10511627" cy="673878"/>
          </a:xfrm>
        </p:spPr>
        <p:txBody>
          <a:bodyPr/>
          <a:lstStyle/>
          <a:p>
            <a:r>
              <a:rPr lang="en-IN" dirty="0"/>
              <a:t>* AI Content Generation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21286A-7B29-3B58-1636-0F4572389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A59310-F17F-FFFB-F7DB-9C60EA436A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14400" y="2045111"/>
            <a:ext cx="10668000" cy="435569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400" b="1" dirty="0"/>
              <a:t>Generated Learning Resources</a:t>
            </a:r>
          </a:p>
          <a:p>
            <a:pPr marL="0" indent="0">
              <a:buNone/>
            </a:pPr>
            <a:endParaRPr lang="en-IN" sz="1400" b="1" dirty="0"/>
          </a:p>
          <a:p>
            <a:pPr marL="0" indent="0">
              <a:buNone/>
            </a:pPr>
            <a:r>
              <a:rPr lang="en-IN" sz="1400" dirty="0"/>
              <a:t>AI StudyMate generates:</a:t>
            </a:r>
          </a:p>
          <a:p>
            <a:r>
              <a:rPr lang="en-IN" sz="1400" b="1" dirty="0"/>
              <a:t>Summary</a:t>
            </a:r>
          </a:p>
          <a:p>
            <a:pPr marL="0" indent="0">
              <a:buNone/>
            </a:pPr>
            <a:r>
              <a:rPr lang="en-IN" sz="1400" dirty="0"/>
              <a:t>         Converts lengthy documents into short notes.</a:t>
            </a:r>
          </a:p>
          <a:p>
            <a:r>
              <a:rPr lang="en-IN" sz="1400" b="1" dirty="0"/>
              <a:t>MCQs</a:t>
            </a:r>
          </a:p>
          <a:p>
            <a:pPr marL="0" indent="0">
              <a:buNone/>
            </a:pPr>
            <a:r>
              <a:rPr lang="en-IN" sz="1400" dirty="0"/>
              <a:t>         Creates:,Questions ,Options ,Correct answers </a:t>
            </a:r>
          </a:p>
          <a:p>
            <a:pPr lvl="0"/>
            <a:r>
              <a:rPr lang="en-IN" sz="1400" b="1" dirty="0"/>
              <a:t>Flashcards</a:t>
            </a:r>
          </a:p>
          <a:p>
            <a:pPr marL="0" indent="0">
              <a:buNone/>
            </a:pPr>
            <a:r>
              <a:rPr lang="en-IN" sz="1400" dirty="0"/>
              <a:t>      Creates:,Question → Answer format</a:t>
            </a:r>
          </a:p>
          <a:p>
            <a:r>
              <a:rPr lang="en-IN" sz="1400" b="1" dirty="0"/>
              <a:t>Quiz</a:t>
            </a:r>
          </a:p>
          <a:p>
            <a:pPr marL="0" indent="0">
              <a:buNone/>
            </a:pPr>
            <a:r>
              <a:rPr lang="en-IN" sz="1400" dirty="0"/>
              <a:t>        Tests student knowledge.</a:t>
            </a:r>
          </a:p>
          <a:p>
            <a:pPr marL="0" indent="0">
              <a:buNone/>
            </a:pP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B4355-C17E-96D2-B6A6-527073B12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9BBDA3A-CFE7-F921-C22B-BC9C0DE29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849" y="486696"/>
            <a:ext cx="9599218" cy="609601"/>
          </a:xfrm>
        </p:spPr>
        <p:txBody>
          <a:bodyPr/>
          <a:lstStyle/>
          <a:p>
            <a:r>
              <a:rPr lang="en-IN" dirty="0"/>
              <a:t>* User Interface 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906421B-D949-4987-5BCE-8A4AEFDDB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86348" y="1671484"/>
            <a:ext cx="4100052" cy="4699820"/>
          </a:xfrm>
        </p:spPr>
        <p:txBody>
          <a:bodyPr/>
          <a:lstStyle/>
          <a:p>
            <a:r>
              <a:rPr lang="en-IN" dirty="0"/>
              <a:t>Include: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Home page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Upload section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Chat interface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Summary output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Quiz page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Dark mode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368278-1C23-0CBB-DE07-0CB9F6A986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9484" y="1538315"/>
            <a:ext cx="6705602" cy="343169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853725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05BF7-A529-2224-E5B1-775F34D97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12B00A4-D1ED-1F74-8829-407982342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849" y="486696"/>
            <a:ext cx="9599218" cy="609601"/>
          </a:xfrm>
        </p:spPr>
        <p:txBody>
          <a:bodyPr/>
          <a:lstStyle/>
          <a:p>
            <a:r>
              <a:rPr lang="en-IN" dirty="0"/>
              <a:t>* System Modules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CACF1A1-C77E-9507-DAFE-78E28340D6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86348" y="1671484"/>
            <a:ext cx="10186220" cy="4699820"/>
          </a:xfrm>
        </p:spPr>
        <p:txBody>
          <a:bodyPr/>
          <a:lstStyle/>
          <a:p>
            <a:r>
              <a:rPr lang="en-IN" b="1" dirty="0"/>
              <a:t>1. AI Chat Module</a:t>
            </a:r>
          </a:p>
          <a:p>
            <a:pPr lvl="0"/>
            <a:r>
              <a:rPr lang="en-IN" dirty="0"/>
              <a:t>Answers student queries. </a:t>
            </a:r>
          </a:p>
          <a:p>
            <a:pPr lvl="0"/>
            <a:r>
              <a:rPr lang="en-IN" dirty="0"/>
              <a:t>Provides explanations. </a:t>
            </a:r>
          </a:p>
          <a:p>
            <a:r>
              <a:rPr lang="en-IN" b="1" dirty="0"/>
              <a:t>2. PDF Processing Module</a:t>
            </a:r>
          </a:p>
          <a:p>
            <a:pPr lvl="0"/>
            <a:r>
              <a:rPr lang="en-IN" dirty="0"/>
              <a:t>Upload documents. </a:t>
            </a:r>
          </a:p>
          <a:p>
            <a:pPr lvl="0"/>
            <a:r>
              <a:rPr lang="en-IN" dirty="0"/>
              <a:t>Extract text content. </a:t>
            </a:r>
          </a:p>
          <a:p>
            <a:r>
              <a:rPr lang="en-IN" b="1" dirty="0"/>
              <a:t>3. Summary Generator  : </a:t>
            </a:r>
            <a:r>
              <a:rPr lang="en-IN" dirty="0"/>
              <a:t>Creates concise notes. </a:t>
            </a:r>
          </a:p>
          <a:p>
            <a:r>
              <a:rPr lang="en-IN" b="1" dirty="0"/>
              <a:t>4. Quiz Generator  : </a:t>
            </a:r>
            <a:r>
              <a:rPr lang="en-IN" dirty="0"/>
              <a:t>Generates practice questions. </a:t>
            </a:r>
          </a:p>
          <a:p>
            <a:r>
              <a:rPr lang="en-IN" b="1" dirty="0"/>
              <a:t>5. Flashcard Generator  :  </a:t>
            </a:r>
            <a:r>
              <a:rPr lang="en-IN" dirty="0"/>
              <a:t>Creates revision cards. </a:t>
            </a:r>
          </a:p>
          <a:p>
            <a:r>
              <a:rPr lang="en-IN" b="1" dirty="0"/>
              <a:t>6. PDF Download Module   : </a:t>
            </a:r>
            <a:r>
              <a:rPr lang="en-IN" dirty="0"/>
              <a:t>Saves generated content.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15963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C1D3E-72D5-B1BC-4429-53F71F1D6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734C44D-53A6-2AB1-F040-637336802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8675" y="358876"/>
            <a:ext cx="9599218" cy="609601"/>
          </a:xfrm>
        </p:spPr>
        <p:txBody>
          <a:bodyPr/>
          <a:lstStyle/>
          <a:p>
            <a:r>
              <a:rPr lang="en-IN" dirty="0"/>
              <a:t>* Backend Implementation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1C6F87-FA87-EE61-B3E6-BC43FD91C3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3498" y="1681316"/>
            <a:ext cx="3834580" cy="4753896"/>
          </a:xfrm>
        </p:spPr>
        <p:txBody>
          <a:bodyPr/>
          <a:lstStyle/>
          <a:p>
            <a:r>
              <a:rPr lang="en-IN" b="1" dirty="0"/>
              <a:t>FastAPI Backend</a:t>
            </a:r>
          </a:p>
          <a:p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Responsibilities: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API handling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File processing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AI communication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Response generation </a:t>
            </a:r>
          </a:p>
          <a:p>
            <a:endParaRPr lang="en-IN" dirty="0"/>
          </a:p>
          <a:p>
            <a:r>
              <a:rPr lang="en-IN" dirty="0"/>
              <a:t>Backend Structure:</a:t>
            </a:r>
          </a:p>
          <a:p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30E86CF-6BBD-1773-B56F-698A976BB0D3}"/>
              </a:ext>
            </a:extLst>
          </p:cNvPr>
          <p:cNvSpPr/>
          <p:nvPr/>
        </p:nvSpPr>
        <p:spPr>
          <a:xfrm>
            <a:off x="6803924" y="1948591"/>
            <a:ext cx="3352800" cy="32864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62262B-BAD7-830D-DB87-CF130E5CF933}"/>
              </a:ext>
            </a:extLst>
          </p:cNvPr>
          <p:cNvSpPr txBox="1"/>
          <p:nvPr/>
        </p:nvSpPr>
        <p:spPr>
          <a:xfrm>
            <a:off x="7236544" y="2437645"/>
            <a:ext cx="29201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Backend</a:t>
            </a:r>
          </a:p>
          <a:p>
            <a:r>
              <a:rPr lang="en-IN" dirty="0"/>
              <a:t> |</a:t>
            </a:r>
          </a:p>
          <a:p>
            <a:r>
              <a:rPr lang="en-IN" dirty="0"/>
              <a:t> ├── main.py</a:t>
            </a:r>
          </a:p>
          <a:p>
            <a:r>
              <a:rPr lang="en-IN" dirty="0"/>
              <a:t> ├── requirements.txt</a:t>
            </a:r>
          </a:p>
          <a:p>
            <a:r>
              <a:rPr lang="en-IN" dirty="0"/>
              <a:t> ├── Dockerfile</a:t>
            </a:r>
          </a:p>
          <a:p>
            <a:r>
              <a:rPr lang="en-IN" dirty="0"/>
              <a:t> └── Environment Config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82049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64C8D-4B76-7707-86A4-37BDB511B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44ADE5F-04CF-F1C7-CCF8-0DCBA096C8BF}"/>
              </a:ext>
            </a:extLst>
          </p:cNvPr>
          <p:cNvSpPr/>
          <p:nvPr/>
        </p:nvSpPr>
        <p:spPr>
          <a:xfrm>
            <a:off x="6980903" y="1966452"/>
            <a:ext cx="3451123" cy="354944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FDBCC9B-0279-E2F1-C86A-F32CF4E99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849" y="486696"/>
            <a:ext cx="9599218" cy="609601"/>
          </a:xfrm>
        </p:spPr>
        <p:txBody>
          <a:bodyPr/>
          <a:lstStyle/>
          <a:p>
            <a:r>
              <a:rPr lang="en-IN" dirty="0"/>
              <a:t>* Docker Implementation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6484AD8-D27F-A827-9469-144FB9C5EB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86348" y="1671484"/>
            <a:ext cx="3923071" cy="4699820"/>
          </a:xfrm>
        </p:spPr>
        <p:txBody>
          <a:bodyPr/>
          <a:lstStyle/>
          <a:p>
            <a:r>
              <a:rPr lang="en-IN" b="1" dirty="0"/>
              <a:t>Containerization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Docker packages: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Application code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Dependencies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Runtime environment </a:t>
            </a:r>
          </a:p>
          <a:p>
            <a:endParaRPr lang="en-IN" dirty="0"/>
          </a:p>
          <a:p>
            <a:r>
              <a:rPr lang="en-IN" dirty="0"/>
              <a:t>Application :</a:t>
            </a:r>
          </a:p>
          <a:p>
            <a:r>
              <a:rPr lang="en-IN" dirty="0"/>
              <a:t>Advantages: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Easy deployment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Environment consistency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CB2321-2A16-CB18-93C6-BD33F08707CE}"/>
              </a:ext>
            </a:extLst>
          </p:cNvPr>
          <p:cNvSpPr txBox="1"/>
          <p:nvPr/>
        </p:nvSpPr>
        <p:spPr>
          <a:xfrm>
            <a:off x="7275871" y="2319854"/>
            <a:ext cx="269403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Workflow:</a:t>
            </a:r>
          </a:p>
          <a:p>
            <a:endParaRPr lang="en-IN" dirty="0"/>
          </a:p>
          <a:p>
            <a:r>
              <a:rPr lang="en-IN" dirty="0"/>
              <a:t>Code</a:t>
            </a:r>
          </a:p>
          <a:p>
            <a:r>
              <a:rPr lang="en-IN" dirty="0"/>
              <a:t> ↓</a:t>
            </a:r>
          </a:p>
          <a:p>
            <a:r>
              <a:rPr lang="en-IN" dirty="0"/>
              <a:t>Dockerfile</a:t>
            </a:r>
          </a:p>
          <a:p>
            <a:r>
              <a:rPr lang="en-IN" dirty="0"/>
              <a:t> ↓</a:t>
            </a:r>
          </a:p>
          <a:p>
            <a:r>
              <a:rPr lang="en-IN" dirty="0"/>
              <a:t>Docker Image</a:t>
            </a:r>
          </a:p>
          <a:p>
            <a:r>
              <a:rPr lang="en-IN" dirty="0"/>
              <a:t> ↓</a:t>
            </a:r>
          </a:p>
          <a:p>
            <a:r>
              <a:rPr lang="en-IN" dirty="0"/>
              <a:t>Container</a:t>
            </a:r>
          </a:p>
          <a:p>
            <a:r>
              <a:rPr lang="en-IN" dirty="0"/>
              <a:t> ↓</a:t>
            </a:r>
          </a:p>
        </p:txBody>
      </p:sp>
    </p:spTree>
    <p:extLst>
      <p:ext uri="{BB962C8B-B14F-4D97-AF65-F5344CB8AC3E}">
        <p14:creationId xmlns:p14="http://schemas.microsoft.com/office/powerpoint/2010/main" val="18228368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10333-DFFC-5A13-F4C4-89B509214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B53D855-D9A2-5302-F636-3523D152B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849" y="486696"/>
            <a:ext cx="9599218" cy="609601"/>
          </a:xfrm>
        </p:spPr>
        <p:txBody>
          <a:bodyPr/>
          <a:lstStyle/>
          <a:p>
            <a:r>
              <a:rPr lang="en-IN" dirty="0"/>
              <a:t>* Deployment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B3E13ED-DD23-13A5-2F3F-D0AE430D3A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86348" y="1671484"/>
            <a:ext cx="10186220" cy="4699820"/>
          </a:xfrm>
        </p:spPr>
        <p:txBody>
          <a:bodyPr/>
          <a:lstStyle/>
          <a:p>
            <a:r>
              <a:rPr lang="en-IN" b="1" dirty="0"/>
              <a:t>Cloud Deployment</a:t>
            </a:r>
          </a:p>
          <a:p>
            <a:r>
              <a:rPr lang="en-IN" dirty="0"/>
              <a:t>Platform:</a:t>
            </a:r>
          </a:p>
          <a:p>
            <a:r>
              <a:rPr lang="en-IN" dirty="0"/>
              <a:t>Render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A05103B-7BC3-5689-CC10-8F155E76055D}"/>
              </a:ext>
            </a:extLst>
          </p:cNvPr>
          <p:cNvSpPr/>
          <p:nvPr/>
        </p:nvSpPr>
        <p:spPr>
          <a:xfrm>
            <a:off x="4395019" y="1799302"/>
            <a:ext cx="7374194" cy="40017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9EC50A-40E3-E793-BCF3-847F344235A3}"/>
              </a:ext>
            </a:extLst>
          </p:cNvPr>
          <p:cNvSpPr txBox="1"/>
          <p:nvPr/>
        </p:nvSpPr>
        <p:spPr>
          <a:xfrm>
            <a:off x="5012853" y="2092006"/>
            <a:ext cx="478007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Deployment Process:</a:t>
            </a:r>
          </a:p>
          <a:p>
            <a:r>
              <a:rPr lang="en-IN" dirty="0"/>
              <a:t>GitHub Repository</a:t>
            </a:r>
          </a:p>
          <a:p>
            <a:r>
              <a:rPr lang="en-IN" dirty="0"/>
              <a:t>        |</a:t>
            </a:r>
          </a:p>
          <a:p>
            <a:r>
              <a:rPr lang="en-IN" dirty="0"/>
              <a:t>        ↓</a:t>
            </a:r>
          </a:p>
          <a:p>
            <a:r>
              <a:rPr lang="en-IN" dirty="0"/>
              <a:t>       Render</a:t>
            </a:r>
          </a:p>
          <a:p>
            <a:r>
              <a:rPr lang="en-IN" dirty="0"/>
              <a:t>        |</a:t>
            </a:r>
          </a:p>
          <a:p>
            <a:r>
              <a:rPr lang="en-IN" dirty="0"/>
              <a:t>        ↓</a:t>
            </a:r>
          </a:p>
          <a:p>
            <a:r>
              <a:rPr lang="en-IN" dirty="0"/>
              <a:t> Docker Build &amp; Deploy</a:t>
            </a:r>
          </a:p>
          <a:p>
            <a:r>
              <a:rPr lang="en-IN" dirty="0"/>
              <a:t>        |</a:t>
            </a:r>
          </a:p>
          <a:p>
            <a:r>
              <a:rPr lang="en-IN" dirty="0"/>
              <a:t>        ↓</a:t>
            </a:r>
          </a:p>
          <a:p>
            <a:r>
              <a:rPr lang="en-IN" dirty="0"/>
              <a:t> Public Application URL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77457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26959-DF75-FA9E-1BD2-77C7A238C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6BFE281-E249-1905-1E43-935E6DF5A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7165" y="997974"/>
            <a:ext cx="9599218" cy="609601"/>
          </a:xfrm>
        </p:spPr>
        <p:txBody>
          <a:bodyPr/>
          <a:lstStyle/>
          <a:p>
            <a:r>
              <a:rPr lang="en-IN" dirty="0"/>
              <a:t>* Testing Results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20618DB-364C-B85C-E7D3-CF163E836D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9098170"/>
              </p:ext>
            </p:extLst>
          </p:nvPr>
        </p:nvGraphicFramePr>
        <p:xfrm>
          <a:off x="1366683" y="2633185"/>
          <a:ext cx="9340646" cy="3570966"/>
        </p:xfrm>
        <a:graphic>
          <a:graphicData uri="http://schemas.openxmlformats.org/drawingml/2006/table">
            <a:tbl>
              <a:tblPr/>
              <a:tblGrid>
                <a:gridCol w="4670323">
                  <a:extLst>
                    <a:ext uri="{9D8B030D-6E8A-4147-A177-3AD203B41FA5}">
                      <a16:colId xmlns:a16="http://schemas.microsoft.com/office/drawing/2014/main" val="121934432"/>
                    </a:ext>
                  </a:extLst>
                </a:gridCol>
                <a:gridCol w="4670323">
                  <a:extLst>
                    <a:ext uri="{9D8B030D-6E8A-4147-A177-3AD203B41FA5}">
                      <a16:colId xmlns:a16="http://schemas.microsoft.com/office/drawing/2014/main" val="1208007508"/>
                    </a:ext>
                  </a:extLst>
                </a:gridCol>
              </a:tblGrid>
              <a:tr h="3967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7176224"/>
                  </a:ext>
                </a:extLst>
              </a:tr>
              <a:tr h="3967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AI Chat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✅ Successful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696768"/>
                  </a:ext>
                </a:extLst>
              </a:tr>
              <a:tr h="3967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PDF Upload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✅ Successful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4895723"/>
                  </a:ext>
                </a:extLst>
              </a:tr>
              <a:tr h="3967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Summary Generation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✅ Successful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3303970"/>
                  </a:ext>
                </a:extLst>
              </a:tr>
              <a:tr h="3967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MCQ Generation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✅ Successful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1222906"/>
                  </a:ext>
                </a:extLst>
              </a:tr>
              <a:tr h="3967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Flashcards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✅ Successful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4053811"/>
                  </a:ext>
                </a:extLst>
              </a:tr>
              <a:tr h="3967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Quiz Generation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✅ Successful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6764234"/>
                  </a:ext>
                </a:extLst>
              </a:tr>
              <a:tr h="3967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PDF Download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✅ Successful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4600941"/>
                  </a:ext>
                </a:extLst>
              </a:tr>
              <a:tr h="3967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Dark Mode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✅ Successful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37461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76742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EE2BC-01E2-2D26-C3E8-8837E455A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2164EAD-DA25-F84A-52D7-B82A657C1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849" y="703006"/>
            <a:ext cx="9599218" cy="609601"/>
          </a:xfrm>
        </p:spPr>
        <p:txBody>
          <a:bodyPr/>
          <a:lstStyle/>
          <a:p>
            <a:r>
              <a:rPr lang="en-IN" dirty="0"/>
              <a:t>* Advantages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46E49A-750D-5B90-6131-BA8B1B31F8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86347" y="1671484"/>
            <a:ext cx="8416413" cy="4267200"/>
          </a:xfrm>
        </p:spPr>
        <p:txBody>
          <a:bodyPr/>
          <a:lstStyle/>
          <a:p>
            <a:r>
              <a:rPr lang="en-IN" sz="3200" b="1" dirty="0"/>
              <a:t>Advantages</a:t>
            </a:r>
          </a:p>
          <a:p>
            <a:r>
              <a:rPr lang="en-IN" sz="3200" dirty="0"/>
              <a:t>✔ Reduces study time</a:t>
            </a:r>
            <a:br>
              <a:rPr lang="en-IN" sz="3200" dirty="0"/>
            </a:br>
            <a:r>
              <a:rPr lang="en-IN" sz="3200" dirty="0"/>
              <a:t>✔ Automatic learning material generation</a:t>
            </a:r>
            <a:br>
              <a:rPr lang="en-IN" sz="3200" dirty="0"/>
            </a:br>
            <a:r>
              <a:rPr lang="en-IN" sz="3200" dirty="0"/>
              <a:t>✔ Interactive AI support</a:t>
            </a:r>
            <a:br>
              <a:rPr lang="en-IN" sz="3200" dirty="0"/>
            </a:br>
            <a:r>
              <a:rPr lang="en-IN" sz="3200" dirty="0"/>
              <a:t>✔ Easy accessibility</a:t>
            </a:r>
            <a:br>
              <a:rPr lang="en-IN" sz="3200" dirty="0"/>
            </a:br>
            <a:r>
              <a:rPr lang="en-IN" sz="3200" dirty="0"/>
              <a:t>✔ Personalized learning experience</a:t>
            </a:r>
            <a:br>
              <a:rPr lang="en-IN" sz="3200" dirty="0"/>
            </a:br>
            <a:r>
              <a:rPr lang="en-IN" sz="3200" dirty="0"/>
              <a:t>✔ Modern AI-based education solution</a:t>
            </a:r>
          </a:p>
        </p:txBody>
      </p:sp>
    </p:spTree>
    <p:extLst>
      <p:ext uri="{BB962C8B-B14F-4D97-AF65-F5344CB8AC3E}">
        <p14:creationId xmlns:p14="http://schemas.microsoft.com/office/powerpoint/2010/main" val="24845172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DC3B0-5A28-C0F4-8A68-554B23E8B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1F03C01-CC3F-9EC4-1273-431266749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849" y="486696"/>
            <a:ext cx="9599218" cy="609601"/>
          </a:xfrm>
        </p:spPr>
        <p:txBody>
          <a:bodyPr/>
          <a:lstStyle/>
          <a:p>
            <a:r>
              <a:rPr lang="en-IN" dirty="0"/>
              <a:t>* Future Scope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5EB51AE-DC80-B58F-8957-D8678F60FA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86348" y="1671484"/>
            <a:ext cx="7393858" cy="4699820"/>
          </a:xfrm>
        </p:spPr>
        <p:txBody>
          <a:bodyPr/>
          <a:lstStyle/>
          <a:p>
            <a:r>
              <a:rPr lang="en-IN" sz="2800" b="1" dirty="0"/>
              <a:t>Future Enhancements</a:t>
            </a:r>
          </a:p>
          <a:p>
            <a:pPr marL="457200" lvl="0" indent="-457200">
              <a:buFont typeface="Wingdings" panose="05000000000000000000" pitchFamily="2" charset="2"/>
              <a:buChar char="q"/>
            </a:pPr>
            <a:r>
              <a:rPr lang="en-IN" sz="2800" dirty="0"/>
              <a:t>Mobile application. </a:t>
            </a:r>
          </a:p>
          <a:p>
            <a:pPr marL="457200" lvl="0" indent="-457200">
              <a:buFont typeface="Wingdings" panose="05000000000000000000" pitchFamily="2" charset="2"/>
              <a:buChar char="q"/>
            </a:pPr>
            <a:r>
              <a:rPr lang="en-IN" sz="2800" dirty="0"/>
              <a:t>Voice-based AI tutor. </a:t>
            </a:r>
          </a:p>
          <a:p>
            <a:pPr marL="457200" lvl="0" indent="-457200">
              <a:buFont typeface="Wingdings" panose="05000000000000000000" pitchFamily="2" charset="2"/>
              <a:buChar char="q"/>
            </a:pPr>
            <a:r>
              <a:rPr lang="en-IN" sz="2800" dirty="0"/>
              <a:t>User accounts. </a:t>
            </a:r>
          </a:p>
          <a:p>
            <a:pPr marL="457200" lvl="0" indent="-457200">
              <a:buFont typeface="Wingdings" panose="05000000000000000000" pitchFamily="2" charset="2"/>
              <a:buChar char="q"/>
            </a:pPr>
            <a:r>
              <a:rPr lang="en-IN" sz="2800" dirty="0"/>
              <a:t>Learning progress tracking. </a:t>
            </a:r>
          </a:p>
          <a:p>
            <a:pPr marL="457200" lvl="0" indent="-457200">
              <a:buFont typeface="Wingdings" panose="05000000000000000000" pitchFamily="2" charset="2"/>
              <a:buChar char="q"/>
            </a:pPr>
            <a:r>
              <a:rPr lang="en-IN" sz="2800" dirty="0"/>
              <a:t>Personalized study plans. </a:t>
            </a:r>
          </a:p>
          <a:p>
            <a:pPr marL="457200" lvl="0" indent="-457200">
              <a:buFont typeface="Wingdings" panose="05000000000000000000" pitchFamily="2" charset="2"/>
              <a:buChar char="q"/>
            </a:pPr>
            <a:r>
              <a:rPr lang="en-IN" sz="2800" dirty="0"/>
              <a:t>Multi-language learning support. </a:t>
            </a:r>
          </a:p>
        </p:txBody>
      </p:sp>
    </p:spTree>
    <p:extLst>
      <p:ext uri="{BB962C8B-B14F-4D97-AF65-F5344CB8AC3E}">
        <p14:creationId xmlns:p14="http://schemas.microsoft.com/office/powerpoint/2010/main" val="18884934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39BFE-99B6-546F-9F5C-4CACDFE5E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C67CB31-027A-9870-7E70-D1B6967FE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849" y="703006"/>
            <a:ext cx="9599218" cy="609601"/>
          </a:xfrm>
        </p:spPr>
        <p:txBody>
          <a:bodyPr/>
          <a:lstStyle/>
          <a:p>
            <a:r>
              <a:rPr lang="en-IN" dirty="0"/>
              <a:t>* Conclusion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A7D2EBA-E01C-DDDB-1BA1-459EED0228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86348" y="1671484"/>
            <a:ext cx="10186220" cy="4699820"/>
          </a:xfrm>
        </p:spPr>
        <p:txBody>
          <a:bodyPr/>
          <a:lstStyle/>
          <a:p>
            <a:r>
              <a:rPr lang="en-IN" b="1" dirty="0"/>
              <a:t>Conclusion</a:t>
            </a:r>
          </a:p>
          <a:p>
            <a:r>
              <a:rPr lang="en-IN" dirty="0"/>
              <a:t>AI StudyMate demonstrates how Artificial Intelligence can improve education by providing automated learning assistance.</a:t>
            </a:r>
          </a:p>
          <a:p>
            <a:endParaRPr lang="en-IN" dirty="0"/>
          </a:p>
          <a:p>
            <a:r>
              <a:rPr lang="en-IN" dirty="0"/>
              <a:t>The system successfully integrates: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Web Development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Artificial Intelligence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Natural Language Processing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Cloud Deployment </a:t>
            </a:r>
          </a:p>
          <a:p>
            <a:r>
              <a:rPr lang="en-IN" dirty="0"/>
              <a:t>It helps students learn faster, revise effectively, and access personalized educational support.</a:t>
            </a:r>
          </a:p>
        </p:txBody>
      </p:sp>
    </p:spTree>
    <p:extLst>
      <p:ext uri="{BB962C8B-B14F-4D97-AF65-F5344CB8AC3E}">
        <p14:creationId xmlns:p14="http://schemas.microsoft.com/office/powerpoint/2010/main" val="29701171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49782"/>
            <a:ext cx="6174657" cy="3673057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{0903F5D3-ADC3-48C7-A08E-94C395518FFD}TF8a9b5915-b8c7-461e-8cdd-693d48b5e32371f7b7e2_win32-4bf0b9a2ea37</Template>
  <TotalTime>54</TotalTime>
  <Words>849</Words>
  <Application>Microsoft Office PowerPoint</Application>
  <PresentationFormat>Widescreen</PresentationFormat>
  <Paragraphs>261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Arial Black</vt:lpstr>
      <vt:lpstr>Calibri</vt:lpstr>
      <vt:lpstr>Sabon Next LT</vt:lpstr>
      <vt:lpstr>Wingdings</vt:lpstr>
      <vt:lpstr>Custom</vt:lpstr>
      <vt:lpstr>AI StudyMate   AI-Based Personalized Study Assistant</vt:lpstr>
      <vt:lpstr>AI StudyMate</vt:lpstr>
      <vt:lpstr>* Introduction </vt:lpstr>
      <vt:lpstr>* Problem Statement</vt:lpstr>
      <vt:lpstr>* Objectives</vt:lpstr>
      <vt:lpstr>*Existing System vs Proposed System</vt:lpstr>
      <vt:lpstr>* Proposed System</vt:lpstr>
      <vt:lpstr>System Architecture</vt:lpstr>
      <vt:lpstr>* Technologies Used</vt:lpstr>
      <vt:lpstr>* System Modules</vt:lpstr>
      <vt:lpstr>* AI Chat Module</vt:lpstr>
      <vt:lpstr>* AI Content Generation</vt:lpstr>
      <vt:lpstr>* User Interface </vt:lpstr>
      <vt:lpstr>* System Modules</vt:lpstr>
      <vt:lpstr>* Backend Implementation</vt:lpstr>
      <vt:lpstr>* Docker Implementation</vt:lpstr>
      <vt:lpstr>* Deployment</vt:lpstr>
      <vt:lpstr>* Testing Results</vt:lpstr>
      <vt:lpstr>* Advantages</vt:lpstr>
      <vt:lpstr>* Future Scope</vt:lpstr>
      <vt:lpstr>* Conclusion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Shaffa Alure</dc:creator>
  <cp:lastModifiedBy>Shaffa Alure</cp:lastModifiedBy>
  <cp:revision>3</cp:revision>
  <dcterms:created xsi:type="dcterms:W3CDTF">2026-08-01T14:33:57Z</dcterms:created>
  <dcterms:modified xsi:type="dcterms:W3CDTF">2026-08-01T15:32:08Z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